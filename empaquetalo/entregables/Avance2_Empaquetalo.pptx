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3307cab6-ad4e-330f-0e94-bfa859cb02df}">
          <p14:sldIdLst>
            <p14:sldId id="256"/>
            <p14:sldId id="257"/>
          </p14:sldIdLst>
        </p14:section>
        <p14:section name="Datos" id="{0234b623-bd42-b7d8-9b74-fe28e9b13738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aradigma" id="{4444b418-cb64-b5d3-9dfc-e7bce4821a8e}">
          <p14:sldIdLst>
            <p14:sldId id="265"/>
            <p14:sldId id="266"/>
          </p14:sldIdLst>
        </p14:section>
        <p14:section name="Modelo" id="{9a929f3c-cf34-7fa4-5064-3069858b6632}">
          <p14:sldIdLst>
            <p14:sldId id="267"/>
          </p14:sldIdLst>
        </p14:section>
        <p14:section name="Revisión" id="{fdd11c19-e89e-e647-160c-69613ef0cbde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93D6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93D60"/>
                </a:solidFill>
                <a:latin typeface="+mn-lt"/>
              </a:rPr>
              <a:t>Envíos por medio de transporte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Envíos</c:v>
                </c:pt>
              </c:strCache>
            </c:strRef>
          </c:tx>
          <c:spPr>
            <a:solidFill>
              <a:srgbClr val="3567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567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70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A519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Dron</c:v>
                  </c:pt>
                  <c:pt idx="1">
                    <c:v>Moto</c:v>
                  </c:pt>
                  <c:pt idx="2">
                    <c:v>Carro/camión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840</c:v>
                </c:pt>
                <c:pt idx="1">
                  <c:v>1986</c:v>
                </c:pt>
                <c:pt idx="2">
                  <c:v>2283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93D6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293D60"/>
                </a:solidFill>
                <a:latin typeface="+mn-lt"/>
              </a:rPr>
              <a:t>F1-macro en prueba (sin ajustar)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F1-macro</c:v>
                </c:pt>
              </c:strCache>
            </c:strRef>
          </c:tx>
          <c:spPr>
            <a:solidFill>
              <a:srgbClr val="9AA3B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23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AA3B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93D6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93D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862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93D6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Sistema base (reglas)</c:v>
                  </c:pt>
                  <c:pt idx="1">
                    <c:v>Árbol de decisión</c:v>
                  </c:pt>
                  <c:pt idx="2">
                    <c:v>KNN (k=5)</c:v>
                  </c:pt>
                  <c:pt idx="3">
                    <c:v>Random Forest</c:v>
                  </c:pt>
                  <c:pt idx="4">
                    <c:v>Red neuronal (MLP)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0.68</c:v>
                </c:pt>
                <c:pt idx="1">
                  <c:v>0.85</c:v>
                </c:pt>
                <c:pt idx="2">
                  <c:v>0.81</c:v>
                </c:pt>
                <c:pt idx="3">
                  <c:v>0.88</c:v>
                </c:pt>
                <c:pt idx="4">
                  <c:v>0.87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23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Presentamos el Avance 2 de Empaquétalo: de dónde salen los datos, cómo los preparamos, qué paradigma de IA elegimos y qué modelo proponemos.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29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spc="300" kern="0" dirty="0">
                <a:solidFill>
                  <a:srgbClr val="F1E7DD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300" spc="300" kern="0" dirty="0">
                <a:solidFill>
                  <a:srgbClr val="F1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</a:t>
            </a: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293D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Empaquétalo · Avance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1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Empaquétalo · Avance 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EMPAQUÉTALO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F1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AVANCE 2 · RECOPILACIÓN DE DATOS Y ELECCIÓN DEL PARADIGMA</a:t>
            </a:r>
            <a:endParaRPr lang="en-US" sz="1300" dirty="0"/>
          </a:p>
        </p:txBody>
      </p:sp>
      <p:sp>
        <p:nvSpPr>
          <p:cNvPr id="4" name="punto 1"/>
          <p:cNvSpPr/>
          <p:nvPr/>
        </p:nvSpPr>
        <p:spPr>
          <a:xfrm>
            <a:off x="566928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2"/>
          <p:cNvSpPr/>
          <p:nvPr/>
        </p:nvSpPr>
        <p:spPr>
          <a:xfrm>
            <a:off x="768096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3"/>
          <p:cNvSpPr/>
          <p:nvPr/>
        </p:nvSpPr>
        <p:spPr>
          <a:xfrm>
            <a:off x="969264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4"/>
          <p:cNvSpPr/>
          <p:nvPr/>
        </p:nvSpPr>
        <p:spPr>
          <a:xfrm>
            <a:off x="1170432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5"/>
          <p:cNvSpPr/>
          <p:nvPr/>
        </p:nvSpPr>
        <p:spPr>
          <a:xfrm>
            <a:off x="1371600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6"/>
          <p:cNvSpPr/>
          <p:nvPr/>
        </p:nvSpPr>
        <p:spPr>
          <a:xfrm>
            <a:off x="1572768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7"/>
          <p:cNvSpPr/>
          <p:nvPr/>
        </p:nvSpPr>
        <p:spPr>
          <a:xfrm>
            <a:off x="1773936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unto 8"/>
          <p:cNvSpPr/>
          <p:nvPr/>
        </p:nvSpPr>
        <p:spPr>
          <a:xfrm>
            <a:off x="1975104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unto 9"/>
          <p:cNvSpPr/>
          <p:nvPr/>
        </p:nvSpPr>
        <p:spPr>
          <a:xfrm>
            <a:off x="2176272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unto 10"/>
          <p:cNvSpPr/>
          <p:nvPr/>
        </p:nvSpPr>
        <p:spPr>
          <a:xfrm>
            <a:off x="2377440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círculo crema"/>
          <p:cNvSpPr/>
          <p:nvPr/>
        </p:nvSpPr>
        <p:spPr>
          <a:xfrm>
            <a:off x="6858000" y="-822960"/>
            <a:ext cx="3108960" cy="31089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círculo café"/>
          <p:cNvSpPr/>
          <p:nvPr/>
        </p:nvSpPr>
        <p:spPr>
          <a:xfrm>
            <a:off x="6492240" y="15087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írculo café grande"/>
          <p:cNvSpPr/>
          <p:nvPr/>
        </p:nvSpPr>
        <p:spPr>
          <a:xfrm>
            <a:off x="7863840" y="329184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Tecnológico de Morelia · Inteligencia Artificial · Semana 8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Jonathan Zavala Díaz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RUTA DEL AVANCE</a:t>
            </a:r>
            <a:endParaRPr lang="en-US" sz="2600" dirty="0"/>
          </a:p>
        </p:txBody>
      </p:sp>
      <p:sp>
        <p:nvSpPr>
          <p:cNvPr id="3" name="punto 1"/>
          <p:cNvSpPr/>
          <p:nvPr/>
        </p:nvSpPr>
        <p:spPr>
          <a:xfrm>
            <a:off x="685800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unto 2"/>
          <p:cNvSpPr/>
          <p:nvPr/>
        </p:nvSpPr>
        <p:spPr>
          <a:xfrm>
            <a:off x="705916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3"/>
          <p:cNvSpPr/>
          <p:nvPr/>
        </p:nvSpPr>
        <p:spPr>
          <a:xfrm>
            <a:off x="726033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4"/>
          <p:cNvSpPr/>
          <p:nvPr/>
        </p:nvSpPr>
        <p:spPr>
          <a:xfrm>
            <a:off x="7461504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5"/>
          <p:cNvSpPr/>
          <p:nvPr/>
        </p:nvSpPr>
        <p:spPr>
          <a:xfrm>
            <a:off x="7662672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6"/>
          <p:cNvSpPr/>
          <p:nvPr/>
        </p:nvSpPr>
        <p:spPr>
          <a:xfrm>
            <a:off x="786384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7"/>
          <p:cNvSpPr/>
          <p:nvPr/>
        </p:nvSpPr>
        <p:spPr>
          <a:xfrm>
            <a:off x="806500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8"/>
          <p:cNvSpPr/>
          <p:nvPr/>
        </p:nvSpPr>
        <p:spPr>
          <a:xfrm>
            <a:off x="826617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arjeta ruta Problema"/>
          <p:cNvSpPr/>
          <p:nvPr/>
        </p:nvSpPr>
        <p:spPr>
          <a:xfrm>
            <a:off x="457200" y="1371600"/>
            <a:ext cx="1874520" cy="251460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fondo icono Problema"/>
          <p:cNvSpPr/>
          <p:nvPr/>
        </p:nvSpPr>
        <p:spPr>
          <a:xfrm>
            <a:off x="1051560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icono Problema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152" y="1764792"/>
            <a:ext cx="356616" cy="35661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40080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3063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dron, moto o carro/camión para cada paquete</a:t>
            </a:r>
            <a:endParaRPr lang="en-US" sz="1150" dirty="0"/>
          </a:p>
        </p:txBody>
      </p:sp>
      <p:sp>
        <p:nvSpPr>
          <p:cNvPr id="17" name="conector 1"/>
          <p:cNvSpPr/>
          <p:nvPr/>
        </p:nvSpPr>
        <p:spPr>
          <a:xfrm>
            <a:off x="2395728" y="25877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arjeta ruta Datos"/>
          <p:cNvSpPr/>
          <p:nvPr/>
        </p:nvSpPr>
        <p:spPr>
          <a:xfrm>
            <a:off x="2578608" y="1371600"/>
            <a:ext cx="1874520" cy="251460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fondo icono Datos"/>
          <p:cNvSpPr/>
          <p:nvPr/>
        </p:nvSpPr>
        <p:spPr>
          <a:xfrm>
            <a:off x="3172968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0" name="icono Datos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64792"/>
            <a:ext cx="356616" cy="356616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761488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715768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2715768" y="3063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5,109 envíos simulados, limpios y etiquetados</a:t>
            </a:r>
            <a:endParaRPr lang="en-US" sz="1150" dirty="0"/>
          </a:p>
        </p:txBody>
      </p:sp>
      <p:sp>
        <p:nvSpPr>
          <p:cNvPr id="24" name="conector 2"/>
          <p:cNvSpPr/>
          <p:nvPr/>
        </p:nvSpPr>
        <p:spPr>
          <a:xfrm>
            <a:off x="4517136" y="25877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arjeta ruta Paradigma"/>
          <p:cNvSpPr/>
          <p:nvPr/>
        </p:nvSpPr>
        <p:spPr>
          <a:xfrm>
            <a:off x="4700016" y="1371600"/>
            <a:ext cx="1874520" cy="251460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fondo icono Paradigma"/>
          <p:cNvSpPr/>
          <p:nvPr/>
        </p:nvSpPr>
        <p:spPr>
          <a:xfrm>
            <a:off x="5294376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7" name="icono Paradigma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8968" y="1764792"/>
            <a:ext cx="356616" cy="35661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4882896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4837176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4837176" y="3063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Simbólico: reglas aprendidas con árboles de decisión</a:t>
            </a:r>
            <a:endParaRPr lang="en-US" sz="1150" dirty="0"/>
          </a:p>
        </p:txBody>
      </p:sp>
      <p:sp>
        <p:nvSpPr>
          <p:cNvPr id="31" name="conector 3"/>
          <p:cNvSpPr/>
          <p:nvPr/>
        </p:nvSpPr>
        <p:spPr>
          <a:xfrm>
            <a:off x="6638544" y="2587752"/>
            <a:ext cx="82296" cy="822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tarjeta ruta Modelo"/>
          <p:cNvSpPr/>
          <p:nvPr/>
        </p:nvSpPr>
        <p:spPr>
          <a:xfrm>
            <a:off x="6821424" y="1371600"/>
            <a:ext cx="1874520" cy="2514600"/>
          </a:xfrm>
          <a:prstGeom prst="roundRect">
            <a:avLst>
              <a:gd name="adj" fmla="val 3902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fondo icono Modelo"/>
          <p:cNvSpPr/>
          <p:nvPr/>
        </p:nvSpPr>
        <p:spPr>
          <a:xfrm>
            <a:off x="7415784" y="160020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4" name="icono Modelo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376" y="1764792"/>
            <a:ext cx="356616" cy="356616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004304" y="2395728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6958584" y="26974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37" name="Text 31"/>
          <p:cNvSpPr txBox="1"/>
          <p:nvPr/>
        </p:nvSpPr>
        <p:spPr>
          <a:xfrm>
            <a:off x="6958584" y="30632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filtro de seguridad + explicación</a:t>
            </a:r>
            <a:endParaRPr lang="en-US" sz="1150" dirty="0"/>
          </a:p>
        </p:txBody>
      </p:sp>
      <p:sp>
        <p:nvSpPr>
          <p:cNvPr id="38" name="Text 32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la revisión: ¿los datos permiten resolver el problema y el paradigma elegido es adecuado?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 Y TIPO DE DATOS</a:t>
            </a:r>
            <a:endParaRPr lang="en-US" sz="2600" dirty="0"/>
          </a:p>
        </p:txBody>
      </p:sp>
      <p:sp>
        <p:nvSpPr>
          <p:cNvPr id="3" name="tarjeta fuente"/>
          <p:cNvSpPr/>
          <p:nvPr/>
        </p:nvSpPr>
        <p:spPr>
          <a:xfrm>
            <a:off x="457200" y="114300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cono base de dato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716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dataset sintético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01168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paquetería no tiene historial de envíos y el alcance excluye datos reales.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 propio en Python con límites investigados en el Avance 1.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asignadas por una política de costo, tiempo y seguridad.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fija (42): cualquiera puede regenerar los mismos datos.</a:t>
            </a:r>
            <a:endParaRPr lang="en-US" sz="1300" dirty="0"/>
          </a:p>
        </p:txBody>
      </p:sp>
      <p:sp>
        <p:nvSpPr>
          <p:cNvPr id="7" name="tarjeta tipo Tabulares"/>
          <p:cNvSpPr/>
          <p:nvPr/>
        </p:nvSpPr>
        <p:spPr>
          <a:xfrm>
            <a:off x="4663440" y="1143000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46320" y="1234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Tabulares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envío, una columna por variable</a:t>
            </a:r>
            <a:endParaRPr lang="en-US" sz="1200" dirty="0"/>
          </a:p>
        </p:txBody>
      </p:sp>
      <p:sp>
        <p:nvSpPr>
          <p:cNvPr id="10" name="tarjeta tipo Numéricos continuos"/>
          <p:cNvSpPr/>
          <p:nvPr/>
        </p:nvSpPr>
        <p:spPr>
          <a:xfrm>
            <a:off x="4663440" y="1993392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46320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Numéricos continuos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dimensiones, distancia, viento</a:t>
            </a:r>
            <a:endParaRPr lang="en-US" sz="1200" dirty="0"/>
          </a:p>
        </p:txBody>
      </p:sp>
      <p:sp>
        <p:nvSpPr>
          <p:cNvPr id="13" name="tarjeta tipo Categórico nominal"/>
          <p:cNvSpPr/>
          <p:nvPr/>
        </p:nvSpPr>
        <p:spPr>
          <a:xfrm>
            <a:off x="4663440" y="2843784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46320" y="2935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Categórico nominal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Clima: despejado, nublado, lluvia, tormenta</a:t>
            </a:r>
            <a:endParaRPr lang="en-US" sz="1200" dirty="0"/>
          </a:p>
        </p:txBody>
      </p:sp>
      <p:sp>
        <p:nvSpPr>
          <p:cNvPr id="16" name="tarjeta tipo Etiquetados · 3 clases"/>
          <p:cNvSpPr/>
          <p:nvPr/>
        </p:nvSpPr>
        <p:spPr>
          <a:xfrm>
            <a:off x="4663440" y="3694176"/>
            <a:ext cx="4023360" cy="713232"/>
          </a:xfrm>
          <a:prstGeom prst="roundRect">
            <a:avLst>
              <a:gd name="adj" fmla="val 10256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4632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Etiquetados · 3 clases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84632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 supervisado multiclase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CANTIDAD</a:t>
            </a:r>
            <a:endParaRPr lang="en-US" sz="2600" dirty="0"/>
          </a:p>
        </p:txBody>
      </p:sp>
      <p:sp>
        <p:nvSpPr>
          <p:cNvPr id="3" name="punto 1"/>
          <p:cNvSpPr/>
          <p:nvPr/>
        </p:nvSpPr>
        <p:spPr>
          <a:xfrm>
            <a:off x="685800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unto 2"/>
          <p:cNvSpPr/>
          <p:nvPr/>
        </p:nvSpPr>
        <p:spPr>
          <a:xfrm>
            <a:off x="705916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3"/>
          <p:cNvSpPr/>
          <p:nvPr/>
        </p:nvSpPr>
        <p:spPr>
          <a:xfrm>
            <a:off x="726033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4"/>
          <p:cNvSpPr/>
          <p:nvPr/>
        </p:nvSpPr>
        <p:spPr>
          <a:xfrm>
            <a:off x="7461504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5"/>
          <p:cNvSpPr/>
          <p:nvPr/>
        </p:nvSpPr>
        <p:spPr>
          <a:xfrm>
            <a:off x="7662672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6"/>
          <p:cNvSpPr/>
          <p:nvPr/>
        </p:nvSpPr>
        <p:spPr>
          <a:xfrm>
            <a:off x="786384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7"/>
          <p:cNvSpPr/>
          <p:nvPr/>
        </p:nvSpPr>
        <p:spPr>
          <a:xfrm>
            <a:off x="806500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8"/>
          <p:cNvSpPr/>
          <p:nvPr/>
        </p:nvSpPr>
        <p:spPr>
          <a:xfrm>
            <a:off x="826617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097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5,262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crudos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40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5,109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98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válidos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383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4,087 / 1,022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/ prueba (80/20)</a:t>
            </a:r>
            <a:endParaRPr lang="en-US" sz="1300" dirty="0"/>
          </a:p>
        </p:txBody>
      </p:sp>
      <p:sp>
        <p:nvSpPr>
          <p:cNvPr id="17" name="tarjeta gráfica clases"/>
          <p:cNvSpPr/>
          <p:nvPr/>
        </p:nvSpPr>
        <p:spPr>
          <a:xfrm>
            <a:off x="4023360" y="1051560"/>
            <a:ext cx="4663440" cy="3474720"/>
          </a:xfrm>
          <a:prstGeom prst="roundRect">
            <a:avLst>
              <a:gd name="adj" fmla="val 2105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18" name="Chart 0" descr=""/>
          <p:cNvGraphicFramePr/>
          <p:nvPr/>
        </p:nvGraphicFramePr>
        <p:xfrm>
          <a:off x="4160520" y="1143000"/>
          <a:ext cx="4389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251960" y="38862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dron es la clase minoritaria (16%), como en la realidad. Por eso la métrica principal es el F1-macro.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Y CARACTERÍSTICAS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4480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1430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 · rango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3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· 0.05 – 600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Largo, ancho, alto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 · 0.5 – 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 · 0.5 – 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categorías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km/h · 0 – 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7D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 (objetivo)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Categórica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2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 · moto · carro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93D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622B"/>
                    </a:solidFill>
                  </a:tcPr>
                </a:tc>
              </a:tr>
            </a:tbl>
          </a:graphicData>
        </a:graphic>
      </p:graphicFrame>
      <p:sp>
        <p:nvSpPr>
          <p:cNvPr id="4" name="tarjeta características derivadas"/>
          <p:cNvSpPr/>
          <p:nvPr/>
        </p:nvSpPr>
        <p:spPr>
          <a:xfrm>
            <a:off x="5212080" y="1143000"/>
            <a:ext cx="347472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440680" y="13258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 DERIVADAS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40680" y="169164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ordenadas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mayor, media y menor: el paquete cabe sin importar cómo se capturó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en litros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el tamaño en un número</a:t>
            </a:r>
            <a:endParaRPr lang="en-US" sz="1250" dirty="0"/>
          </a:p>
          <a:p>
            <a:pPr indent="0" marL="0">
              <a:buNone/>
            </a:pPr>
            <a:r>
              <a:rPr lang="en-US" sz="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one-hot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columnas binarias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3931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características de entrada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EJEMPLOS DE DATOS</a:t>
            </a:r>
            <a:endParaRPr lang="en-US" sz="2600" dirty="0"/>
          </a:p>
        </p:txBody>
      </p:sp>
      <p:sp>
        <p:nvSpPr>
          <p:cNvPr id="3" name="punto 1"/>
          <p:cNvSpPr/>
          <p:nvPr/>
        </p:nvSpPr>
        <p:spPr>
          <a:xfrm>
            <a:off x="685800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unto 2"/>
          <p:cNvSpPr/>
          <p:nvPr/>
        </p:nvSpPr>
        <p:spPr>
          <a:xfrm>
            <a:off x="705916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3"/>
          <p:cNvSpPr/>
          <p:nvPr/>
        </p:nvSpPr>
        <p:spPr>
          <a:xfrm>
            <a:off x="726033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4"/>
          <p:cNvSpPr/>
          <p:nvPr/>
        </p:nvSpPr>
        <p:spPr>
          <a:xfrm>
            <a:off x="7461504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5"/>
          <p:cNvSpPr/>
          <p:nvPr/>
        </p:nvSpPr>
        <p:spPr>
          <a:xfrm>
            <a:off x="7662672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6"/>
          <p:cNvSpPr/>
          <p:nvPr/>
        </p:nvSpPr>
        <p:spPr>
          <a:xfrm>
            <a:off x="786384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7"/>
          <p:cNvSpPr/>
          <p:nvPr/>
        </p:nvSpPr>
        <p:spPr>
          <a:xfrm>
            <a:off x="806500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8"/>
          <p:cNvSpPr/>
          <p:nvPr/>
        </p:nvSpPr>
        <p:spPr>
          <a:xfrm>
            <a:off x="826617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685800"/>
                <a:gridCol w="1234440"/>
                <a:gridCol w="685800"/>
                <a:gridCol w="868680"/>
                <a:gridCol w="640080"/>
                <a:gridCol w="1051560"/>
                <a:gridCol w="2148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kg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Dimensiones cm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Dist. km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3D6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ENV-03972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× 23 ×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despejado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67B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 ligero, sin viento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ENV-01703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× 29 × 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nublado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Viento ≥ 30 descarta el dron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ENV-00228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× 25 × 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despejado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Excede 2.5 kg por 280 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ENV-02270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× 84 × 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despejado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Carro/camión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1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Volumen de 805 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ENV-04130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 × 63 × 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lluvia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Carro/camión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1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2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Pesado y con lluvia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7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ENV-01703 y ENV-00228 son paquetes pequeños a 8 km que una regla simple mandaría en dron. Uno lo impide el viento y el otro 280 gramos.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Y ADQUISICIÓN</a:t>
            </a:r>
            <a:endParaRPr lang="en-US" sz="2600" dirty="0"/>
          </a:p>
        </p:txBody>
      </p:sp>
      <p:sp>
        <p:nvSpPr>
          <p:cNvPr id="3" name="tarjeta formato"/>
          <p:cNvSpPr/>
          <p:nvPr/>
        </p:nvSpPr>
        <p:spPr>
          <a:xfrm>
            <a:off x="457200" y="1143000"/>
            <a:ext cx="2651760" cy="33375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icono CSV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1965960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CSV, UTF-8, con encabezado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fila por envío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 crudo, limpio y conjuntos de entrenamiento y prueba</a:t>
            </a:r>
            <a:endParaRPr lang="en-US" sz="1300" dirty="0"/>
          </a:p>
        </p:txBody>
      </p:sp>
      <p:sp>
        <p:nvSpPr>
          <p:cNvPr id="7" name="paso 1"/>
          <p:cNvSpPr/>
          <p:nvPr/>
        </p:nvSpPr>
        <p:spPr>
          <a:xfrm>
            <a:off x="3429000" y="1234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290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1188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paquetes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114800" y="1527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(sobre, pequeño, mediano, grande) → peso y dimensiones. Distancia log-normal (mediana 9 km). Viento según el clima.</a:t>
            </a:r>
            <a:endParaRPr lang="en-US" sz="1200" dirty="0"/>
          </a:p>
        </p:txBody>
      </p:sp>
      <p:sp>
        <p:nvSpPr>
          <p:cNvPr id="11" name="paso 2"/>
          <p:cNvSpPr/>
          <p:nvPr/>
        </p:nvSpPr>
        <p:spPr>
          <a:xfrm>
            <a:off x="3429000" y="2377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290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0" y="2670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descartan los medios que violan un límite y se elige el de menor costo-tiempo-riesgo, más ruido (σ = 7).</a:t>
            </a:r>
            <a:endParaRPr lang="en-US" sz="1200" dirty="0"/>
          </a:p>
        </p:txBody>
      </p:sp>
      <p:sp>
        <p:nvSpPr>
          <p:cNvPr id="15" name="paso 3"/>
          <p:cNvSpPr/>
          <p:nvPr/>
        </p:nvSpPr>
        <p:spPr>
          <a:xfrm>
            <a:off x="3429000" y="35204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42900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errores de captura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0" y="381304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mal escrito, faltantes, milímetros en vez de centímetros, pesos imposibles y duplicados.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PREPROCESAMIENTO INICIAL</a:t>
            </a:r>
            <a:endParaRPr lang="en-US" sz="2600" dirty="0"/>
          </a:p>
        </p:txBody>
      </p:sp>
      <p:sp>
        <p:nvSpPr>
          <p:cNvPr id="3" name="tarjeta limpieza 1"/>
          <p:cNvSpPr/>
          <p:nvPr/>
        </p:nvSpPr>
        <p:spPr>
          <a:xfrm>
            <a:off x="457200" y="1097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eliminados</a:t>
            </a:r>
            <a:endParaRPr lang="en-US" sz="1200" dirty="0"/>
          </a:p>
        </p:txBody>
      </p:sp>
      <p:sp>
        <p:nvSpPr>
          <p:cNvPr id="6" name="tarjeta limpieza 2"/>
          <p:cNvSpPr/>
          <p:nvPr/>
        </p:nvSpPr>
        <p:spPr>
          <a:xfrm>
            <a:off x="3246120" y="1097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→ 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variantes de clima unificadas</a:t>
            </a:r>
            <a:endParaRPr lang="en-US" sz="1200" dirty="0"/>
          </a:p>
        </p:txBody>
      </p:sp>
      <p:sp>
        <p:nvSpPr>
          <p:cNvPr id="9" name="tarjeta limpieza 3"/>
          <p:cNvSpPr/>
          <p:nvPr/>
        </p:nvSpPr>
        <p:spPr>
          <a:xfrm>
            <a:off x="6035040" y="109728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207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peso o clima, eliminados</a:t>
            </a:r>
            <a:endParaRPr lang="en-US" sz="1200" dirty="0"/>
          </a:p>
        </p:txBody>
      </p:sp>
      <p:sp>
        <p:nvSpPr>
          <p:cNvPr id="12" name="tarjeta limpieza 4"/>
          <p:cNvSpPr/>
          <p:nvPr/>
        </p:nvSpPr>
        <p:spPr>
          <a:xfrm>
            <a:off x="457200" y="228600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≤ 0, eliminados</a:t>
            </a:r>
            <a:endParaRPr lang="en-US" sz="1200" dirty="0"/>
          </a:p>
        </p:txBody>
      </p:sp>
      <p:sp>
        <p:nvSpPr>
          <p:cNvPr id="15" name="tarjeta limpieza 5"/>
          <p:cNvSpPr/>
          <p:nvPr/>
        </p:nvSpPr>
        <p:spPr>
          <a:xfrm>
            <a:off x="3246120" y="228600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2900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largos en mm corregidos</a:t>
            </a:r>
            <a:endParaRPr lang="en-US" sz="1200" dirty="0"/>
          </a:p>
        </p:txBody>
      </p:sp>
      <p:sp>
        <p:nvSpPr>
          <p:cNvPr id="18" name="tarjeta limpieza 6"/>
          <p:cNvSpPr/>
          <p:nvPr/>
        </p:nvSpPr>
        <p:spPr>
          <a:xfrm>
            <a:off x="6035040" y="228600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0" y="23957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880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vientos imputados con la mediana del clima</a:t>
            </a:r>
            <a:endParaRPr lang="en-US" sz="1200" dirty="0"/>
          </a:p>
        </p:txBody>
      </p:sp>
      <p:sp>
        <p:nvSpPr>
          <p:cNvPr id="21" name="tarjeta transformación"/>
          <p:cNvSpPr/>
          <p:nvPr/>
        </p:nvSpPr>
        <p:spPr>
          <a:xfrm>
            <a:off x="457200" y="3520440"/>
            <a:ext cx="822960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85800" y="363931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8B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dimensiones ordenadas + volumen + one-hot del clima → división 80/20 estratificada → StandardScaler ajustado sólo con entrenamiento (para KNN y la red neuronal; los árboles no lo necesitan).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DICEN LOS DATOS</a:t>
            </a:r>
            <a:endParaRPr lang="en-US" sz="2600" dirty="0"/>
          </a:p>
        </p:txBody>
      </p:sp>
      <p:sp>
        <p:nvSpPr>
          <p:cNvPr id="3" name="marco figura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ura peso contra distancia" descr="Dispersión de peso contra distancia coloreada por med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70432"/>
            <a:ext cx="4937760" cy="3282696"/>
          </a:xfrm>
          <a:prstGeom prst="rect">
            <a:avLst/>
          </a:prstGeom>
        </p:spPr>
      </p:pic>
      <p:sp>
        <p:nvSpPr>
          <p:cNvPr id="5" name="hallazgo Tormenta"/>
          <p:cNvSpPr/>
          <p:nvPr/>
        </p:nvSpPr>
        <p:spPr>
          <a:xfrm>
            <a:off x="5852160" y="109728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035040" y="1170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Tormenta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035040" y="1426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carro/camión</a:t>
            </a:r>
            <a:endParaRPr lang="en-US" sz="1200" dirty="0"/>
          </a:p>
        </p:txBody>
      </p:sp>
      <p:sp>
        <p:nvSpPr>
          <p:cNvPr id="8" name="hallazgo Lluvia"/>
          <p:cNvSpPr/>
          <p:nvPr/>
        </p:nvSpPr>
        <p:spPr>
          <a:xfrm>
            <a:off x="5852160" y="187452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035040" y="19476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2037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dron</a:t>
            </a:r>
            <a:endParaRPr lang="en-US" sz="1200" dirty="0"/>
          </a:p>
        </p:txBody>
      </p:sp>
      <p:sp>
        <p:nvSpPr>
          <p:cNvPr id="11" name="hallazgo Buen clima"/>
          <p:cNvSpPr/>
          <p:nvPr/>
        </p:nvSpPr>
        <p:spPr>
          <a:xfrm>
            <a:off x="5852160" y="2651760"/>
            <a:ext cx="2834640" cy="64008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035040" y="27249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 clima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035040" y="29809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medio domina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852160" y="352044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 2.5 kg conviven dron y moto, y entre 2.5 y 20 kg conviven moto y carro. La frontera depende del viento, el volumen y la distancia a la vez.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 DEL PARADIGMA</a:t>
            </a:r>
            <a:endParaRPr lang="en-US" sz="2600" dirty="0"/>
          </a:p>
        </p:txBody>
      </p:sp>
      <p:sp>
        <p:nvSpPr>
          <p:cNvPr id="3" name="tarjeta paradigma Simbólico"/>
          <p:cNvSpPr/>
          <p:nvPr/>
        </p:nvSpPr>
        <p:spPr>
          <a:xfrm>
            <a:off x="457200" y="109728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ondo Simbólico"/>
          <p:cNvSpPr/>
          <p:nvPr/>
        </p:nvSpPr>
        <p:spPr>
          <a:xfrm>
            <a:off x="868680" y="1298448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o Simbólico" descr="Simból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63040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2468880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si-entonces aprendidas con árboles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ELEGIDO</a:t>
            </a:r>
            <a:endParaRPr lang="en-US" sz="1200" dirty="0"/>
          </a:p>
        </p:txBody>
      </p:sp>
      <p:sp>
        <p:nvSpPr>
          <p:cNvPr id="9" name="tarjeta paradigma Conexionista"/>
          <p:cNvSpPr/>
          <p:nvPr/>
        </p:nvSpPr>
        <p:spPr>
          <a:xfrm>
            <a:off x="2121408" y="109728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fondo Conexionista"/>
          <p:cNvSpPr/>
          <p:nvPr/>
        </p:nvSpPr>
        <p:spPr>
          <a:xfrm>
            <a:off x="2532888" y="129844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cono Conexionista" descr="Conexionist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46304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12848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Conexionista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2231136" y="2468880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neuronal: F1 0.87, pero es caja negra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2212848" y="3703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15" name="tarjeta paradigma Bioinspirado"/>
          <p:cNvSpPr/>
          <p:nvPr/>
        </p:nvSpPr>
        <p:spPr>
          <a:xfrm>
            <a:off x="3785616" y="109728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fondo Bioinspirado"/>
          <p:cNvSpPr/>
          <p:nvPr/>
        </p:nvSpPr>
        <p:spPr>
          <a:xfrm>
            <a:off x="4197096" y="129844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cono Bioinspirado" descr="Bioinspir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63040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877056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Bioinspirado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895344" y="2468880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Optimiza; no clasifica directamente</a:t>
            </a:r>
            <a:endParaRPr lang="en-US" sz="1150" dirty="0"/>
          </a:p>
        </p:txBody>
      </p:sp>
      <p:sp>
        <p:nvSpPr>
          <p:cNvPr id="20" name="Text 15"/>
          <p:cNvSpPr txBox="1"/>
          <p:nvPr/>
        </p:nvSpPr>
        <p:spPr>
          <a:xfrm>
            <a:off x="3877056" y="3703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200" dirty="0"/>
          </a:p>
        </p:txBody>
      </p:sp>
      <p:sp>
        <p:nvSpPr>
          <p:cNvPr id="21" name="tarjeta paradigma Probabilístico"/>
          <p:cNvSpPr/>
          <p:nvPr/>
        </p:nvSpPr>
        <p:spPr>
          <a:xfrm>
            <a:off x="5449824" y="109728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fondo Probabilístico"/>
          <p:cNvSpPr/>
          <p:nvPr/>
        </p:nvSpPr>
        <p:spPr>
          <a:xfrm>
            <a:off x="5861304" y="129844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icono Probabilístico" descr="Probabilístic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463040"/>
            <a:ext cx="356616" cy="35661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41264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Probabilístico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5559552" y="2468880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ignora las interacciones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5541264" y="3703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200" dirty="0"/>
          </a:p>
        </p:txBody>
      </p:sp>
      <p:sp>
        <p:nvSpPr>
          <p:cNvPr id="27" name="tarjeta paradigma Computacional"/>
          <p:cNvSpPr/>
          <p:nvPr/>
        </p:nvSpPr>
        <p:spPr>
          <a:xfrm>
            <a:off x="7114032" y="1097280"/>
            <a:ext cx="1508760" cy="3108960"/>
          </a:xfrm>
          <a:prstGeom prst="roundRect">
            <a:avLst>
              <a:gd name="adj" fmla="val 4848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fondo Computacional"/>
          <p:cNvSpPr/>
          <p:nvPr/>
        </p:nvSpPr>
        <p:spPr>
          <a:xfrm>
            <a:off x="7525512" y="1298448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icono Computacional" descr="Computacio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0104" y="1463040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05472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Computacional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7223760" y="2468880"/>
            <a:ext cx="12893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KNN: F1 0.81, sensible a la escala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7205472" y="37033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¿POR QUÉ SIMBÓLICO?</a:t>
            </a:r>
            <a:endParaRPr lang="en-US" sz="2600" dirty="0"/>
          </a:p>
        </p:txBody>
      </p:sp>
      <p:sp>
        <p:nvSpPr>
          <p:cNvPr id="3" name="razón 1"/>
          <p:cNvSpPr/>
          <p:nvPr/>
        </p:nvSpPr>
        <p:spPr>
          <a:xfrm>
            <a:off x="457200" y="109728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52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 con el problema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600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límites son umbrales (2.5 kg, 30 km/h, 15 km) y cada nodo de un árbol es un umbral.</a:t>
            </a:r>
            <a:endParaRPr lang="en-US" sz="1200" dirty="0"/>
          </a:p>
        </p:txBody>
      </p:sp>
      <p:sp>
        <p:nvSpPr>
          <p:cNvPr id="7" name="razón 2"/>
          <p:cNvSpPr/>
          <p:nvPr/>
        </p:nvSpPr>
        <p:spPr>
          <a:xfrm>
            <a:off x="4663440" y="109728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8463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1252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explicar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60020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reglas que sigue un árbol se pueden leer; los pesos de una red neuronal, no.</a:t>
            </a:r>
            <a:endParaRPr lang="en-US" sz="1200" dirty="0"/>
          </a:p>
        </p:txBody>
      </p:sp>
      <p:sp>
        <p:nvSpPr>
          <p:cNvPr id="11" name="razón 3"/>
          <p:cNvSpPr/>
          <p:nvPr/>
        </p:nvSpPr>
        <p:spPr>
          <a:xfrm>
            <a:off x="457200" y="25146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6700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 el idioma del filtro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filtro de seguridad también son reglas: modelo y filtro se integran.</a:t>
            </a:r>
            <a:endParaRPr lang="en-US" sz="1200" dirty="0"/>
          </a:p>
        </p:txBody>
      </p:sp>
      <p:sp>
        <p:nvSpPr>
          <p:cNvPr id="15" name="razón 4"/>
          <p:cNvSpPr/>
          <p:nvPr/>
        </p:nvSpPr>
        <p:spPr>
          <a:xfrm>
            <a:off x="4663440" y="2514600"/>
            <a:ext cx="402336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8463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5394960" y="26700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respalda la evidencia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árboles quedaron primero sin ajuste: Random Forest 0.88, árbol 0.85.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reglas escritas a mano: el modelo induce cientos de reglas y sus umbrales a partir de 4,087 ejemplos.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PROPUESTO</a:t>
            </a:r>
            <a:endParaRPr lang="en-US" sz="2600" dirty="0"/>
          </a:p>
        </p:txBody>
      </p:sp>
      <p:sp>
        <p:nvSpPr>
          <p:cNvPr id="3" name="punto 1"/>
          <p:cNvSpPr/>
          <p:nvPr/>
        </p:nvSpPr>
        <p:spPr>
          <a:xfrm>
            <a:off x="685800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punto 2"/>
          <p:cNvSpPr/>
          <p:nvPr/>
        </p:nvSpPr>
        <p:spPr>
          <a:xfrm>
            <a:off x="705916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3"/>
          <p:cNvSpPr/>
          <p:nvPr/>
        </p:nvSpPr>
        <p:spPr>
          <a:xfrm>
            <a:off x="726033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4"/>
          <p:cNvSpPr/>
          <p:nvPr/>
        </p:nvSpPr>
        <p:spPr>
          <a:xfrm>
            <a:off x="7461504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5"/>
          <p:cNvSpPr/>
          <p:nvPr/>
        </p:nvSpPr>
        <p:spPr>
          <a:xfrm>
            <a:off x="7662672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6"/>
          <p:cNvSpPr/>
          <p:nvPr/>
        </p:nvSpPr>
        <p:spPr>
          <a:xfrm>
            <a:off x="7863840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7"/>
          <p:cNvSpPr/>
          <p:nvPr/>
        </p:nvSpPr>
        <p:spPr>
          <a:xfrm>
            <a:off x="8065008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8"/>
          <p:cNvSpPr/>
          <p:nvPr/>
        </p:nvSpPr>
        <p:spPr>
          <a:xfrm>
            <a:off x="8266176" y="530352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fondo Entrada"/>
          <p:cNvSpPr/>
          <p:nvPr/>
        </p:nvSpPr>
        <p:spPr>
          <a:xfrm>
            <a:off x="841248" y="10972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cono Entrada" descr="Entrad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813" y="1272845"/>
            <a:ext cx="380390" cy="38039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57200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peso, medidas, distancia, clima, viento</a:t>
            </a:r>
            <a:endParaRPr lang="en-US" sz="1100" dirty="0"/>
          </a:p>
        </p:txBody>
      </p:sp>
      <p:sp>
        <p:nvSpPr>
          <p:cNvPr id="15" name="punto 1"/>
          <p:cNvSpPr/>
          <p:nvPr/>
        </p:nvSpPr>
        <p:spPr>
          <a:xfrm>
            <a:off x="1673352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punto 2"/>
          <p:cNvSpPr/>
          <p:nvPr/>
        </p:nvSpPr>
        <p:spPr>
          <a:xfrm>
            <a:off x="1874520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fondo Preproceso"/>
          <p:cNvSpPr/>
          <p:nvPr/>
        </p:nvSpPr>
        <p:spPr>
          <a:xfrm>
            <a:off x="2505456" y="10972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8" name="icono Preproceso" descr="Preproces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021" y="1272845"/>
            <a:ext cx="380390" cy="38039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121408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Preproceso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2167128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medidas, volumen, one-hot</a:t>
            </a:r>
            <a:endParaRPr lang="en-US" sz="1100" dirty="0"/>
          </a:p>
        </p:txBody>
      </p:sp>
      <p:sp>
        <p:nvSpPr>
          <p:cNvPr id="21" name="punto 1"/>
          <p:cNvSpPr/>
          <p:nvPr/>
        </p:nvSpPr>
        <p:spPr>
          <a:xfrm>
            <a:off x="3337560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punto 2"/>
          <p:cNvSpPr/>
          <p:nvPr/>
        </p:nvSpPr>
        <p:spPr>
          <a:xfrm>
            <a:off x="3538728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fondo Random Forest"/>
          <p:cNvSpPr/>
          <p:nvPr/>
        </p:nvSpPr>
        <p:spPr>
          <a:xfrm>
            <a:off x="4169664" y="10972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icono Random Forest" descr="Random Fores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5229" y="1272845"/>
            <a:ext cx="380390" cy="38039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785616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26" name="Text 21"/>
          <p:cNvSpPr txBox="1"/>
          <p:nvPr/>
        </p:nvSpPr>
        <p:spPr>
          <a:xfrm>
            <a:off x="3831336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 y da la probabilidad de cada medio</a:t>
            </a:r>
            <a:endParaRPr lang="en-US" sz="1100" dirty="0"/>
          </a:p>
        </p:txBody>
      </p:sp>
      <p:sp>
        <p:nvSpPr>
          <p:cNvPr id="27" name="punto 1"/>
          <p:cNvSpPr/>
          <p:nvPr/>
        </p:nvSpPr>
        <p:spPr>
          <a:xfrm>
            <a:off x="5001768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8" name="punto 2"/>
          <p:cNvSpPr/>
          <p:nvPr/>
        </p:nvSpPr>
        <p:spPr>
          <a:xfrm>
            <a:off x="5202936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fondo Filtro"/>
          <p:cNvSpPr/>
          <p:nvPr/>
        </p:nvSpPr>
        <p:spPr>
          <a:xfrm>
            <a:off x="5833872" y="10972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0" name="icono Filtro" descr="Filtr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9437" y="1272845"/>
            <a:ext cx="380390" cy="38039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5449824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5495544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medios que violan un límite</a:t>
            </a:r>
            <a:endParaRPr lang="en-US" sz="1100" dirty="0"/>
          </a:p>
        </p:txBody>
      </p:sp>
      <p:sp>
        <p:nvSpPr>
          <p:cNvPr id="33" name="punto 1"/>
          <p:cNvSpPr/>
          <p:nvPr/>
        </p:nvSpPr>
        <p:spPr>
          <a:xfrm>
            <a:off x="6665976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4" name="punto 2"/>
          <p:cNvSpPr/>
          <p:nvPr/>
        </p:nvSpPr>
        <p:spPr>
          <a:xfrm>
            <a:off x="6867144" y="141732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fondo Salida"/>
          <p:cNvSpPr/>
          <p:nvPr/>
        </p:nvSpPr>
        <p:spPr>
          <a:xfrm>
            <a:off x="7498080" y="109728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36" name="icono Salida" descr="Salid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3645" y="1272845"/>
            <a:ext cx="380390" cy="380390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114032" y="1920240"/>
            <a:ext cx="1508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1350" dirty="0"/>
          </a:p>
        </p:txBody>
      </p:sp>
      <p:sp>
        <p:nvSpPr>
          <p:cNvPr id="38" name="Text 31"/>
          <p:cNvSpPr txBox="1"/>
          <p:nvPr/>
        </p:nvSpPr>
        <p:spPr>
          <a:xfrm>
            <a:off x="7159752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+ confianza + explicación</a:t>
            </a:r>
            <a:endParaRPr lang="en-US" sz="1100" dirty="0"/>
          </a:p>
        </p:txBody>
      </p:sp>
      <p:sp>
        <p:nvSpPr>
          <p:cNvPr id="39" name="tarjeta ejemplo"/>
          <p:cNvSpPr/>
          <p:nvPr/>
        </p:nvSpPr>
        <p:spPr>
          <a:xfrm>
            <a:off x="457200" y="3063240"/>
            <a:ext cx="82296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685800" y="31821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REAL DEL MODELO PRELIMINAR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685800" y="3474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kg · 30×20×15 cm · 7.5 km · lluvia · 25 km/h  →  </a:t>
            </a:r>
            <a:pPr indent="0" marL="0">
              <a:buNone/>
            </a:pPr>
            <a:r>
              <a:rPr lang="en-US" sz="1400" b="1" dirty="0">
                <a:solidFill>
                  <a:srgbClr val="C97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 (0.88)</a:t>
            </a:r>
            <a:endParaRPr lang="en-US" sz="1400" dirty="0"/>
          </a:p>
        </p:txBody>
      </p:sp>
      <p:sp>
        <p:nvSpPr>
          <p:cNvPr id="42" name="Text 35"/>
          <p:cNvSpPr txBox="1"/>
          <p:nvPr/>
        </p:nvSpPr>
        <p:spPr>
          <a:xfrm>
            <a:off x="68580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«La lluvia descarta el dron; paquete pequeño y distancia media favorecen la moto.»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685800" y="40965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paquete con cielo despejado y 10 km/h  →  </a:t>
            </a:r>
            <a:pPr indent="0" marL="0">
              <a:buNone/>
            </a:pPr>
            <a:r>
              <a:rPr lang="en-US" sz="1300" b="1" dirty="0">
                <a:solidFill>
                  <a:srgbClr val="8FB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 (0.60)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DE VIABILIDAD</a:t>
            </a:r>
            <a:endParaRPr lang="en-US" sz="2600" dirty="0"/>
          </a:p>
        </p:txBody>
      </p:sp>
      <p:sp>
        <p:nvSpPr>
          <p:cNvPr id="3" name="tarjeta gráfica F1"/>
          <p:cNvSpPr/>
          <p:nvPr/>
        </p:nvSpPr>
        <p:spPr>
          <a:xfrm>
            <a:off x="457200" y="1097280"/>
            <a:ext cx="5394960" cy="3429000"/>
          </a:xfrm>
          <a:prstGeom prst="roundRect">
            <a:avLst>
              <a:gd name="adj" fmla="val 21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 descr=""/>
          <p:cNvGraphicFramePr/>
          <p:nvPr/>
        </p:nvGraphicFramePr>
        <p:xfrm>
          <a:off x="548640" y="118872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del Avance 1: F1-macro ≥ 0.85 y +10 puntos sobre las reglas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0972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011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F1-macro sobre el sistema de reglas simples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788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 ± 0.01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3832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con validación cruzada de 5 pliegues: resultado estable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293D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 LA REVISIÓN</a:t>
            </a:r>
            <a:endParaRPr lang="en-US" sz="2600" dirty="0"/>
          </a:p>
        </p:txBody>
      </p:sp>
      <p:sp>
        <p:nvSpPr>
          <p:cNvPr id="3" name="respuesta 1"/>
          <p:cNvSpPr/>
          <p:nvPr/>
        </p:nvSpPr>
        <p:spPr>
          <a:xfrm>
            <a:off x="457200" y="1097280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ondo sí 1"/>
          <p:cNvSpPr/>
          <p:nvPr/>
        </p:nvSpPr>
        <p:spPr>
          <a:xfrm>
            <a:off x="640080" y="122529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o sí 1" descr="sí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356970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¿Los datos permiten resolver el problema?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087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F1-macro de 0.88 sin ajuste, arriba de la meta de 0.85.</a:t>
            </a:r>
            <a:endParaRPr lang="en-US" sz="1300" dirty="0"/>
          </a:p>
        </p:txBody>
      </p:sp>
      <p:sp>
        <p:nvSpPr>
          <p:cNvPr id="8" name="respuesta 2"/>
          <p:cNvSpPr/>
          <p:nvPr/>
        </p:nvSpPr>
        <p:spPr>
          <a:xfrm>
            <a:off x="457200" y="2057400"/>
            <a:ext cx="8229600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fondo sí 2"/>
          <p:cNvSpPr/>
          <p:nvPr/>
        </p:nvSpPr>
        <p:spPr>
          <a:xfrm>
            <a:off x="640080" y="2185416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cono sí 2" descr="sí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2317090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1488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¿El paradigma es adecuado?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468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Sí. Los árboles quedan primero y además son explicables.</a:t>
            </a:r>
            <a:endParaRPr lang="en-US" sz="1300" dirty="0"/>
          </a:p>
        </p:txBody>
      </p:sp>
      <p:sp>
        <p:nvSpPr>
          <p:cNvPr id="13" name="tarjeta atención"/>
          <p:cNvSpPr/>
          <p:nvPr/>
        </p:nvSpPr>
        <p:spPr>
          <a:xfrm>
            <a:off x="45720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8580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atender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4930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dron es la clase más difícil (F1 0.82). Se probará class_weight = "balanced" y el filtro bloquea cualquier dron inseguro.</a:t>
            </a:r>
            <a:endParaRPr lang="en-US" sz="1200" dirty="0"/>
          </a:p>
        </p:txBody>
      </p:sp>
      <p:sp>
        <p:nvSpPr>
          <p:cNvPr id="16" name="tarjeta limitación"/>
          <p:cNvSpPr/>
          <p:nvPr/>
        </p:nvSpPr>
        <p:spPr>
          <a:xfrm>
            <a:off x="4663440" y="3063240"/>
            <a:ext cx="4023360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349300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son sintéticos: el modelo aprende la política del equipo. El ruido evita que memorice reglas (nadie llega a 1.0).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4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5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 DE LA REVISIÓN</a:t>
            </a:r>
            <a:endParaRPr lang="en-US" sz="2600" dirty="0"/>
          </a:p>
        </p:txBody>
      </p:sp>
      <p:sp>
        <p:nvSpPr>
          <p:cNvPr id="3" name="fondo entregado Dataset"/>
          <p:cNvSpPr/>
          <p:nvPr/>
        </p:nvSpPr>
        <p:spPr>
          <a:xfrm>
            <a:off x="548640" y="11338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o entregado Dataset" descr="entregado Datas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43584"/>
            <a:ext cx="237744" cy="23774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88720" y="11155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1155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5,109 envíos limpios, reproducibles</a:t>
            </a:r>
            <a:endParaRPr lang="en-US" sz="1400" dirty="0"/>
          </a:p>
        </p:txBody>
      </p:sp>
      <p:sp>
        <p:nvSpPr>
          <p:cNvPr id="7" name="fondo entregado Ejemplos"/>
          <p:cNvSpPr/>
          <p:nvPr/>
        </p:nvSpPr>
        <p:spPr>
          <a:xfrm>
            <a:off x="548640" y="18196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cono entregado Ejemplos" descr="entregado Ejempl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9384"/>
            <a:ext cx="237744" cy="23774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8013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1801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comentados de las 3 clases</a:t>
            </a:r>
            <a:endParaRPr lang="en-US" sz="1400" dirty="0"/>
          </a:p>
        </p:txBody>
      </p:sp>
      <p:sp>
        <p:nvSpPr>
          <p:cNvPr id="11" name="fondo entregado Preprocesamiento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cono entregado Preprocesamiento" descr="entregado Preprocesamient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615184"/>
            <a:ext cx="237744" cy="23774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24871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3383280" y="24871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pasos con bitácora de registros</a:t>
            </a:r>
            <a:endParaRPr lang="en-US" sz="1400" dirty="0"/>
          </a:p>
        </p:txBody>
      </p:sp>
      <p:sp>
        <p:nvSpPr>
          <p:cNvPr id="15" name="fondo entregado Paradigma"/>
          <p:cNvSpPr/>
          <p:nvPr/>
        </p:nvSpPr>
        <p:spPr>
          <a:xfrm>
            <a:off x="548640" y="31912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cono entregado Paradigma" descr="entregado Paradigm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0098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31729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3383280" y="31729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Simbólico, contra los otros 4</a:t>
            </a:r>
            <a:endParaRPr lang="en-US" sz="1400" dirty="0"/>
          </a:p>
        </p:txBody>
      </p:sp>
      <p:sp>
        <p:nvSpPr>
          <p:cNvPr id="19" name="fondo entregado Modelo"/>
          <p:cNvSpPr/>
          <p:nvPr/>
        </p:nvSpPr>
        <p:spPr>
          <a:xfrm>
            <a:off x="548640" y="387705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o entregado Modelo" descr="entregado Model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98678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88720" y="385876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3383280" y="38587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filtro + explicación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1E7D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spc="1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2860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F1E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SIGUIENTE: ENTRENAMIENTO Y AJUSTE DE MODELOS (SEMANAS 9 A 11)</a:t>
            </a:r>
            <a:endParaRPr lang="en-US" sz="1300" dirty="0"/>
          </a:p>
        </p:txBody>
      </p:sp>
      <p:sp>
        <p:nvSpPr>
          <p:cNvPr id="4" name="punto 1"/>
          <p:cNvSpPr/>
          <p:nvPr/>
        </p:nvSpPr>
        <p:spPr>
          <a:xfrm>
            <a:off x="566928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punto 2"/>
          <p:cNvSpPr/>
          <p:nvPr/>
        </p:nvSpPr>
        <p:spPr>
          <a:xfrm>
            <a:off x="768096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punto 3"/>
          <p:cNvSpPr/>
          <p:nvPr/>
        </p:nvSpPr>
        <p:spPr>
          <a:xfrm>
            <a:off x="969264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punto 4"/>
          <p:cNvSpPr/>
          <p:nvPr/>
        </p:nvSpPr>
        <p:spPr>
          <a:xfrm>
            <a:off x="1170432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punto 5"/>
          <p:cNvSpPr/>
          <p:nvPr/>
        </p:nvSpPr>
        <p:spPr>
          <a:xfrm>
            <a:off x="1371600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punto 6"/>
          <p:cNvSpPr/>
          <p:nvPr/>
        </p:nvSpPr>
        <p:spPr>
          <a:xfrm>
            <a:off x="1572768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punto 7"/>
          <p:cNvSpPr/>
          <p:nvPr/>
        </p:nvSpPr>
        <p:spPr>
          <a:xfrm>
            <a:off x="1773936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punto 8"/>
          <p:cNvSpPr/>
          <p:nvPr/>
        </p:nvSpPr>
        <p:spPr>
          <a:xfrm>
            <a:off x="1975104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punto 9"/>
          <p:cNvSpPr/>
          <p:nvPr/>
        </p:nvSpPr>
        <p:spPr>
          <a:xfrm>
            <a:off x="2176272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punto 10"/>
          <p:cNvSpPr/>
          <p:nvPr/>
        </p:nvSpPr>
        <p:spPr>
          <a:xfrm>
            <a:off x="2377440" y="3154680"/>
            <a:ext cx="100584" cy="10058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círculo crema"/>
          <p:cNvSpPr/>
          <p:nvPr/>
        </p:nvSpPr>
        <p:spPr>
          <a:xfrm>
            <a:off x="6858000" y="-822960"/>
            <a:ext cx="3108960" cy="3108960"/>
          </a:xfrm>
          <a:prstGeom prst="ellipse">
            <a:avLst/>
          </a:prstGeom>
          <a:solidFill>
            <a:schemeClr val="bg2"/>
          </a:solidFill>
          <a:ln/>
        </p:spPr>
      </p:sp>
      <p:sp>
        <p:nvSpPr>
          <p:cNvPr id="15" name="círculo café"/>
          <p:cNvSpPr/>
          <p:nvPr/>
        </p:nvSpPr>
        <p:spPr>
          <a:xfrm>
            <a:off x="6492240" y="150876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círculo café grande"/>
          <p:cNvSpPr/>
          <p:nvPr/>
        </p:nvSpPr>
        <p:spPr>
          <a:xfrm>
            <a:off x="7863840" y="3291840"/>
            <a:ext cx="1828800" cy="1828800"/>
          </a:xfrm>
          <a:prstGeom prst="ellipse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Empaquetalo">
  <a:themeElements>
    <a:clrScheme name="Empaquetalo">
      <a:dk1>
        <a:srgbClr val="1E2235"/>
      </a:dk1>
      <a:lt1>
        <a:srgbClr val="FFFFFF"/>
      </a:lt1>
      <a:dk2>
        <a:srgbClr val="293D60"/>
      </a:dk2>
      <a:lt2>
        <a:srgbClr val="F1E7DD"/>
      </a:lt2>
      <a:accent1>
        <a:srgbClr val="B38B5D"/>
      </a:accent1>
      <a:accent2>
        <a:srgbClr val="C8622B"/>
      </a:accent2>
      <a:accent3>
        <a:srgbClr val="3567B5"/>
      </a:accent3>
      <a:accent4>
        <a:srgbClr val="C9702E"/>
      </a:accent4>
      <a:accent5>
        <a:srgbClr val="7A5195"/>
      </a:accent5>
      <a:accent6>
        <a:srgbClr val="5B6475"/>
      </a:accent6>
      <a:hlink>
        <a:srgbClr val="3567B5"/>
      </a:hlink>
      <a:folHlink>
        <a:srgbClr val="7A5195"/>
      </a:folHlink>
    </a:clrScheme>
    <a:fontScheme name="Empaquetal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Empaquétalo – Avance 2</dc:title>
  <dc:subject>PptxGenJS Presentation</dc:subject>
  <dc:creator>Equipo Empaquétalo</dc:creator>
  <cp:lastModifiedBy>Equipo Empaquétalo</cp:lastModifiedBy>
  <cp:revision>1</cp:revision>
  <dcterms:created xsi:type="dcterms:W3CDTF">2026-10-12T03:20:45Z</dcterms:created>
  <dcterms:modified xsi:type="dcterms:W3CDTF">2026-10-12T03:20:45Z</dcterms:modified>
</cp:coreProperties>
</file>